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나를 따라 그려지는 맞춤형 여행 지도, STOG를 발표합니다.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여행의 실제 불편함에서 시작해, 왜 전북인지, STOG가 어떻게 해결하는지 순서대로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사람마다 평범한 일상 속 특별한 순간이 있습니다. 저희는 그중 하나가 여행이라고 생각했습니다.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SNS에서 장소를 발견하고, 단체방에 공유하고, 다시 검색하고, 지도와 메모를 오갑니다.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여행 정보가 부족한 것이 아니라, 너무 많은 정보가 서로 다른 공간에 흩어지는 것이 문제였습니다.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날씨, 이동 지연, 웨이팅, 우연한 발견 때문에 계획은 계속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사진은 많이 남지만 어디를 걸었고 무엇을 발견했는지는 점점 기억에서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저희가 발견한 문제는 하나였습니다. 여행의 계획, 실제 경험, 기록이 서로 연결되지 않는다는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전북은 체류시간이 긴 지역입니다. 저희는 이 시간을 더 다양한 지역 경험으로 연결하는 데 주목했습니다.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전북 관광지를 나열하는 것이 아니라 지역 경험을 연결하는 것이 STOG의 전북특화입니다.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사용해 보고 싶은 기술에서 실제 여행을 돕는 도구로 이동하고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서비스는 각각의 기능을 잘 수행하지만 여행 전·중·후 전체 경험은 연결하지 못했습니다.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STOG는 사용자의 성향에 맞는 장소를 추천하고 실제 동선으로 연결한 뒤 지도 위에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사용자를 하나의 유형으로 고정하지 않고 여섯 가지 성향의 점수를 함께 분석합니다.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STOG는 추천과 이동, 기록을 하나의 여행으로 연결하고 기록을 다음 여행 개인화로 다시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앱은 Spring Backend를 통해 Google Cloud의 데이터, 스토리지, Planner, Qwen/Vertex AI, Recommendation 모듈과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성향을 분석하고 장소를 추천받아 일정을 만들고, 여행 중에는 자연어로 수정하며, 마지막에는 H3 기록으로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기록이 쌓일수록 STOG는 사용자를 더 잘 이해합니다.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E7F0F5"/>
          </a:solidFill>
          <a:ln w="12700">
            <a:solidFill>
              <a:srgbClr val="E7F0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03504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STOBEE  /  FINAL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0292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76656" y="2404872"/>
            <a:ext cx="562356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나를 따라 그려지는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여행 지도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94944" y="3913632"/>
            <a:ext cx="5943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여행은 끝나도, 추억까지 끝나는 건 아니니까요.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" y="4599432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4608576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 →  STEP  →  LOG</a:t>
            </a:r>
            <a:endParaRPr lang="en-US" sz="900" dirty="0"/>
          </a:p>
        </p:txBody>
      </p:sp>
      <p:pic>
        <p:nvPicPr>
          <p:cNvPr id="9" name="Image 0" descr="C:\Users\GUN\AndroidStudioProjects\STOG\docs\ds_rfs\stog_flow_design_mockup.png">    </p:cNvPr>
          <p:cNvPicPr>
            <a:picLocks noChangeAspect="1"/>
          </p:cNvPicPr>
          <p:nvPr/>
        </p:nvPicPr>
        <p:blipFill>
          <a:blip r:embed="rId1">
            <a:alphaModFix amt="99000"/>
          </a:blip>
          <a:stretch>
            <a:fillRect/>
          </a:stretch>
        </p:blipFill>
        <p:spPr>
          <a:xfrm>
            <a:off x="7699248" y="1078992"/>
            <a:ext cx="3977640" cy="43159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4944" y="5824728"/>
            <a:ext cx="10744200" cy="0"/>
          </a:xfrm>
          <a:prstGeom prst="line">
            <a:avLst/>
          </a:prstGeom>
          <a:noFill/>
          <a:ln w="2921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30936" y="5751576"/>
            <a:ext cx="146304" cy="146304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70632" y="5751576"/>
            <a:ext cx="146304" cy="146304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9472" y="5751576"/>
            <a:ext cx="146304" cy="146304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68312" y="5751576"/>
            <a:ext cx="146304" cy="146304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17152" y="5751576"/>
            <a:ext cx="146304" cy="146304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237976" y="5751576"/>
            <a:ext cx="146304" cy="146304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 / STORY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오늘은 여행의 흐름을 따라갑니다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공감에서 기술과 시연까지, 하나의 여행처럼 이어집니다.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47088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공감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404872"/>
            <a:ext cx="342900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43784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47088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전북인가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3191256"/>
            <a:ext cx="342900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30168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47088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시장 변화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28800" y="3977640"/>
            <a:ext cx="342900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16552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B7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47088" y="4370832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28800" y="4764024"/>
            <a:ext cx="342900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057400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13448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STOG 해결 구조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95160" y="2404872"/>
            <a:ext cx="342900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843784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13448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· 시연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3191256"/>
            <a:ext cx="342900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630168"/>
            <a:ext cx="457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13448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· 마무리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95160" y="3977640"/>
            <a:ext cx="342900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623560"/>
            <a:ext cx="8961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여행의 실제 불편함에서 시작해, STOG의 연결 구조로 들어갑니다.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03504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/ A moment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13232" y="1152144"/>
            <a:ext cx="6949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여행은 특별한 순간입니다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그렇다면 우리는 이 소중한 여행을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준비하고, 어떻게 남기고 있을까요?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76288" y="1572768"/>
            <a:ext cx="4498848" cy="3767328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pic>
        <p:nvPicPr>
          <p:cNvPr id="6" name="Image 0" descr="C:\Users\GUN\AndroidStudioProjects\STOG\docs\ds_rfs\stog_flow_design_mockup.png">    </p:cNvPr>
          <p:cNvPicPr>
            <a:picLocks noChangeAspect="1"/>
          </p:cNvPicPr>
          <p:nvPr/>
        </p:nvPicPr>
        <p:blipFill>
          <a:blip r:embed="rId1">
            <a:alphaModFix amt="99000"/>
          </a:blip>
          <a:stretch>
            <a:fillRect/>
          </a:stretch>
        </p:blipFill>
        <p:spPr>
          <a:xfrm>
            <a:off x="7040880" y="1737360"/>
            <a:ext cx="4169664" cy="34381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50608" y="5596128"/>
            <a:ext cx="3931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친구  ·  가족  ·  풍경  ·  한 끼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/ BEFORE THE TRIP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“우리 어디 가지?”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하나를 계획하기 위해 우리는 여러 서비스를 오갑니다.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41248" y="2212848"/>
            <a:ext cx="2212848" cy="1371600"/>
          </a:xfrm>
          <a:prstGeom prst="roundRect">
            <a:avLst>
              <a:gd name="adj" fmla="val 10667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" y="2907792"/>
            <a:ext cx="1783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발견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72968" y="2898648"/>
            <a:ext cx="356616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94176" y="2212848"/>
            <a:ext cx="2212848" cy="1371600"/>
          </a:xfrm>
          <a:prstGeom prst="roundRect">
            <a:avLst>
              <a:gd name="adj" fmla="val 10667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95344" y="2907792"/>
            <a:ext cx="1783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25896" y="2898648"/>
            <a:ext cx="356616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47104" y="2212848"/>
            <a:ext cx="2212848" cy="1371600"/>
          </a:xfrm>
          <a:prstGeom prst="roundRect">
            <a:avLst>
              <a:gd name="adj" fmla="val 10667"/>
            </a:avLst>
          </a:prstGeom>
          <a:solidFill>
            <a:srgbClr val="E7F0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48272" y="2907792"/>
            <a:ext cx="1783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맛집·관광지 검색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2898648"/>
            <a:ext cx="356616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00032" y="2212848"/>
            <a:ext cx="2212848" cy="1371600"/>
          </a:xfrm>
          <a:prstGeom prst="roundRect">
            <a:avLst>
              <a:gd name="adj" fmla="val 10667"/>
            </a:avLst>
          </a:prstGeom>
          <a:solidFill>
            <a:srgbClr val="EDF2E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2496312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B7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0" y="2907792"/>
            <a:ext cx="1783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일정·동선 정리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35808" y="4224528"/>
            <a:ext cx="6217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발견 → 공유 → 검색 → 정리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95728" y="5102352"/>
            <a:ext cx="7406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하나를 계획하기 위해, 정보의 맥락이 계속 끊깁니다.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 / PROBLEM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정보는 많은데, 정리는 어렵습니다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것은 쉬워졌지만, 모으는 것은 어려워졌습니다.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32688" y="2103120"/>
            <a:ext cx="20116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166420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게시물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3127248"/>
            <a:ext cx="2011680" cy="621792"/>
          </a:xfrm>
          <a:prstGeom prst="roundRect">
            <a:avLst>
              <a:gd name="adj" fmla="val 14706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3310128"/>
            <a:ext cx="166420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링크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17320" y="4160520"/>
            <a:ext cx="2011680" cy="621792"/>
          </a:xfrm>
          <a:prstGeom prst="roundRect">
            <a:avLst>
              <a:gd name="adj" fmla="val 14706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4343400"/>
            <a:ext cx="166420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 · 릴스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2084832"/>
            <a:ext cx="2011680" cy="621792"/>
          </a:xfrm>
          <a:prstGeom prst="roundRect">
            <a:avLst>
              <a:gd name="adj" fmla="val 14706"/>
            </a:avLst>
          </a:prstGeom>
          <a:solidFill>
            <a:srgbClr val="EDF2E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2267712"/>
            <a:ext cx="166420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저장 장소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58768" y="4407408"/>
            <a:ext cx="20116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4590288"/>
            <a:ext cx="166420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이미지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2395728"/>
            <a:ext cx="4023360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그래서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어디 가기로 했지?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31152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부족이 아니라 정보 분산이 문제입니다.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31152" y="4892040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 · context · decision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 / PROBLEM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계획은 실제 여행에서 계속 변합니다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정적인 일정표와 실제 여행의 속도는 다릅니다.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04672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한옥마을  →  12:00 식당  →  14:00 경기전  →  16:00 카페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4892040" cy="0"/>
          </a:xfrm>
          <a:prstGeom prst="line">
            <a:avLst/>
          </a:prstGeom>
          <a:noFill/>
          <a:ln w="25400">
            <a:solidFill>
              <a:srgbClr val="739F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310128"/>
            <a:ext cx="146304" cy="146304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5728" y="3310128"/>
            <a:ext cx="146304" cy="146304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50208" y="3310128"/>
            <a:ext cx="146304" cy="146304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6128" y="3310128"/>
            <a:ext cx="146304" cy="146304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5740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ACTUAL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0256" y="244144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지연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0256" y="3099816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E7F0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3218688"/>
            <a:ext cx="2194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우연한 발견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0256" y="3758184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877056"/>
            <a:ext cx="2194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0256" y="4416552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EDF2E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4535424"/>
            <a:ext cx="2194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074920"/>
            <a:ext cx="9875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여행은 계획대로 움직이는 것이 아니라 계속 변합니다.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 / PROBLEM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여행 후에는 사진만 남습니다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남았지만, 우리가 걸었던 여행의 맥락은 흐려집니다.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993392"/>
            <a:ext cx="4864608" cy="3529584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pic>
        <p:nvPicPr>
          <p:cNvPr id="6" name="Image 0" descr="C:\Users\GUN\AndroidStudioProjects\STOG\docs\ds_rfs\stog_flow_design_mockup.png">    </p:cNvPr>
          <p:cNvPicPr>
            <a:picLocks noChangeAspect="1"/>
          </p:cNvPicPr>
          <p:nvPr/>
        </p:nvPicPr>
        <p:blipFill>
          <a:blip r:embed="rId1">
            <a:alphaModFix amt="99000"/>
          </a:blip>
          <a:stretch>
            <a:fillRect/>
          </a:stretch>
        </p:blipFill>
        <p:spPr>
          <a:xfrm>
            <a:off x="987552" y="2157984"/>
            <a:ext cx="4535424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5376672"/>
            <a:ext cx="4343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사진 · 일정 · 이동의 맥락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852160" y="2304288"/>
            <a:ext cx="45720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어디를 걸었고,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어떤 순서였을까요?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870448" y="3840480"/>
            <a:ext cx="47548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· 동선 · 발견의 맥락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사진과 함께 남지 않습니다.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70448" y="4910328"/>
            <a:ext cx="2121408" cy="310896"/>
          </a:xfrm>
          <a:prstGeom prst="roundRect">
            <a:avLst>
              <a:gd name="adj" fmla="val 23529"/>
            </a:avLst>
          </a:prstGeom>
          <a:solidFill>
            <a:srgbClr val="13191D"/>
          </a:solidFill>
          <a:ln w="12700">
            <a:solidFill>
              <a:srgbClr val="13191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70448" y="4919472"/>
            <a:ext cx="21214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  ≠  JOURNEY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 /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여행 전·중·후가 단절되어 있습니다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계획·경험·기록이 각각 다른 서비스에 흩어져 서로 연결되지 않습니다.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2212848"/>
            <a:ext cx="3017520" cy="1755648"/>
          </a:xfrm>
          <a:prstGeom prst="roundRect">
            <a:avLst>
              <a:gd name="adj" fmla="val 8333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BEFORE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8136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탐색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88136" y="3401568"/>
            <a:ext cx="2423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· 검색 · 단톡방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69080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88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663440" y="2212848"/>
            <a:ext cx="3017520" cy="1755648"/>
          </a:xfrm>
          <a:prstGeom prst="roundRect">
            <a:avLst>
              <a:gd name="adj" fmla="val 8333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DURING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82896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변경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82896" y="3401568"/>
            <a:ext cx="2423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재검색 · 이동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63840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88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458200" y="2212848"/>
            <a:ext cx="3017520" cy="1755648"/>
          </a:xfrm>
          <a:prstGeom prst="roundRect">
            <a:avLst>
              <a:gd name="adj" fmla="val 8333"/>
            </a:avLst>
          </a:prstGeom>
          <a:solidFill>
            <a:srgbClr val="E7F0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77656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AFTER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77656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보관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77656" y="3401568"/>
            <a:ext cx="2423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적재 · 맥락 소실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9692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끊어진 여행의 흐름을 다시 연결해야 합니다.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 / WHY JEONBUK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그렇다면, 왜 전북일까요?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관광객의 부족이 아니라, 머무는 시간을 어디로 연결하느냐의 문제입니다.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" y="2121408"/>
            <a:ext cx="3154680" cy="1938528"/>
          </a:xfrm>
          <a:prstGeom prst="roundRect">
            <a:avLst>
              <a:gd name="adj" fmla="val 8491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596896"/>
            <a:ext cx="26060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881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2,529만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60704" y="338328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1분기 방문자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60704" y="3730752"/>
            <a:ext cx="2514600" cy="0"/>
          </a:xfrm>
          <a:prstGeom prst="line">
            <a:avLst/>
          </a:prstGeom>
          <a:noFill/>
          <a:ln w="22860">
            <a:solidFill>
              <a:srgbClr val="D881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1144" y="2121408"/>
            <a:ext cx="3154680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2596896"/>
            <a:ext cx="26060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39FB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전국 2위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55464" y="338328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관광객 체류시간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55464" y="3730752"/>
            <a:ext cx="2514600" cy="0"/>
          </a:xfrm>
          <a:prstGeom prst="line">
            <a:avLst/>
          </a:prstGeom>
          <a:noFill/>
          <a:ln w="22860">
            <a:solidFill>
              <a:srgbClr val="739F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5904" y="2121408"/>
            <a:ext cx="3154680" cy="1938528"/>
          </a:xfrm>
          <a:prstGeom prst="roundRect">
            <a:avLst>
              <a:gd name="adj" fmla="val 8491"/>
            </a:avLst>
          </a:prstGeom>
          <a:solidFill>
            <a:srgbClr val="EDF2E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1936" y="2596896"/>
            <a:ext cx="26060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7B78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전국 13위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50224" y="338328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관광지출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50224" y="3730752"/>
            <a:ext cx="2514600" cy="0"/>
          </a:xfrm>
          <a:prstGeom prst="line">
            <a:avLst/>
          </a:prstGeom>
          <a:noFill/>
          <a:ln w="22860">
            <a:solidFill>
              <a:srgbClr val="A7B7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56048"/>
            <a:ext cx="10424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머무는 관광객을, 전북의 더 다양한 장소와 경험으로.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742432"/>
            <a:ext cx="10424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Source: 2026년 1분기 전북 관광 데이터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 / REGIONAL FIT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전북특화는 관광지 나열이 아닙니다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관광지에서 다음 경험으로 이어지는 지역 연결입니다.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176272"/>
            <a:ext cx="3337560" cy="2240280"/>
          </a:xfrm>
          <a:prstGeom prst="roundRect">
            <a:avLst>
              <a:gd name="adj" fmla="val 7347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87168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장소로 연결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2743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관광지에서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장소를 찾기 어렵습니다.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53712" y="2176272"/>
            <a:ext cx="3337560" cy="2240280"/>
          </a:xfrm>
          <a:prstGeom prst="roundRect">
            <a:avLst>
              <a:gd name="adj" fmla="val 7347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2487168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28032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취향으로 조합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28032" y="3520440"/>
            <a:ext cx="2743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자연·역사·미식·체험·휴식을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취향으로 조합하기 어렵습니다.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375904" y="2176272"/>
            <a:ext cx="3337560" cy="2240280"/>
          </a:xfrm>
          <a:prstGeom prst="roundRect">
            <a:avLst>
              <a:gd name="adj" fmla="val 7347"/>
            </a:avLst>
          </a:prstGeom>
          <a:solidFill>
            <a:srgbClr val="E7F0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0224" y="2487168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50224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관계가 이어짐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50224" y="3520440"/>
            <a:ext cx="2743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여행이 끝나면 지역과의 관계도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끊어집니다.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전북 관광자원 × 여행성향 × 실제 이동 × H3 기록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1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 / AI SHIFT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여행 서비스도 검색에서 개인화로 이동합니다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써 보고 싶은 기술에서 실제 여행을 돕는 도구가 되고 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24128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2578608"/>
            <a:ext cx="3291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881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24128" y="3456432"/>
            <a:ext cx="21945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여행자의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의향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96512" y="3072384"/>
            <a:ext cx="2468880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828032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319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actual use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315200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42048" y="2578608"/>
            <a:ext cx="3291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39FB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0" y="3456432"/>
            <a:ext cx="26517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여행객의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중 AI 활용 경험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5138928"/>
            <a:ext cx="9875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결정을 대신하는 것이 아니라, 사용자의 선택과 여행을 보조해야 합니다.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5806440"/>
            <a:ext cx="9875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Source: Booking.com 글로벌 AI 인식 보고서 · 연합뉴스 보도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11 / EXISTING SERVICES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각각의 기능은 잘하지만, 여행은 이어지지 않습니다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경쟁을 말하는 대신 각 서비스의 역할과 남는 단절을 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14400" y="1975104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8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61488" y="197510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여행지 발견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975104"/>
            <a:ext cx="4114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콘텐츠 속에 흩어짐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" y="2359152"/>
            <a:ext cx="1033272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15184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39F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61488" y="261518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검색 · 경로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615184"/>
            <a:ext cx="4114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단위 관리 부족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" y="2999232"/>
            <a:ext cx="1033272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55264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B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61488" y="325526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55264"/>
            <a:ext cx="4114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대화에 묻힘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" y="3639312"/>
            <a:ext cx="1033272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95344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7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61488" y="389534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상품 · 일정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895344"/>
            <a:ext cx="4114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경험 기록과 단절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" y="4279392"/>
            <a:ext cx="1033272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35424"/>
            <a:ext cx="1143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81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61488" y="453542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보관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535424"/>
            <a:ext cx="4114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동선과 맥락 부족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6112" y="4919472"/>
            <a:ext cx="10332720" cy="0"/>
          </a:xfrm>
          <a:prstGeom prst="line">
            <a:avLst/>
          </a:prstGeom>
          <a:noFill/>
          <a:ln w="10160">
            <a:solidFill>
              <a:srgbClr val="DCE3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687568"/>
            <a:ext cx="9784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기능의 합이 아니라, 하나의 여행 경험으로 연결되어야 합니다.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7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 / STOG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그래서 STOG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선택을 실제 이동과 기록의 흐름으로 연결합니다.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3154680" cy="2148840"/>
          </a:xfrm>
          <a:prstGeom prst="roundRect">
            <a:avLst>
              <a:gd name="adj" fmla="val 7660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881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24712" y="3108960"/>
            <a:ext cx="2468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· 계획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3584448"/>
            <a:ext cx="2514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맞는 장소를 찾고 담습니다.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05656" y="3246120"/>
            <a:ext cx="374904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54296" y="2240280"/>
            <a:ext cx="3154680" cy="2148840"/>
          </a:xfrm>
          <a:prstGeom prst="roundRect">
            <a:avLst>
              <a:gd name="adj" fmla="val 7660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B8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910328" y="3108960"/>
            <a:ext cx="2468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· 변경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3584448"/>
            <a:ext cx="2514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맞게 순서를 바꿔 걷습니다.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91272" y="3246120"/>
            <a:ext cx="374904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39912" y="2240280"/>
            <a:ext cx="3154680" cy="2148840"/>
          </a:xfrm>
          <a:prstGeom prst="roundRect">
            <a:avLst>
              <a:gd name="adj" fmla="val 7660"/>
            </a:avLst>
          </a:prstGeom>
          <a:solidFill>
            <a:srgbClr val="E7F0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95944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39FB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695944" y="3108960"/>
            <a:ext cx="2468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· 사진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95944" y="3584448"/>
            <a:ext cx="2514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걸어온 길과 순간을 남깁니다.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5166360"/>
            <a:ext cx="9875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STOG는 AI가 여행을 대신 결정하는 서비스가 아닙니다.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13 /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하나의 유형이 아니라, 여섯 성향의 조합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사용자를 고정하지 않고 이번 여행에 맞는 조합을 찾습니다.</a:t>
            </a:r>
            <a:endParaRPr lang="en-US" sz="1150" dirty="0"/>
          </a:p>
        </p:txBody>
      </p:sp>
      <p:pic>
        <p:nvPicPr>
          <p:cNvPr id="5" name="Image 0" descr="C:\Users\GUN\AndroidStudioProjects\STOG\docs\ds_rfs\여행성향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658368" y="1847088"/>
            <a:ext cx="15087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87168" y="1938528"/>
            <a:ext cx="168249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CE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633472" y="2103120"/>
            <a:ext cx="310896" cy="310896"/>
          </a:xfrm>
          <a:prstGeom prst="ellipse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2384" y="2057400"/>
            <a:ext cx="84124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72384" y="2313432"/>
            <a:ext cx="9509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 · 걷기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343400" y="1938528"/>
            <a:ext cx="168249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CE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704" y="2103120"/>
            <a:ext cx="310896" cy="310896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28616" y="2057400"/>
            <a:ext cx="84124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윙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28616" y="2313432"/>
            <a:ext cx="9509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· 문화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87168" y="2871216"/>
            <a:ext cx="168249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CE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33472" y="3035808"/>
            <a:ext cx="310896" cy="310896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2384" y="2990088"/>
            <a:ext cx="84124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72384" y="3246120"/>
            <a:ext cx="9509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· 로컬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343400" y="2871216"/>
            <a:ext cx="168249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CE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89704" y="3035808"/>
            <a:ext cx="310896" cy="310896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990088"/>
            <a:ext cx="84124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허니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28616" y="3246120"/>
            <a:ext cx="9509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미식 · 카페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487168" y="3803904"/>
            <a:ext cx="168249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CE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33472" y="3968496"/>
            <a:ext cx="310896" cy="310896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72384" y="3922776"/>
            <a:ext cx="84124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액티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072384" y="4178808"/>
            <a:ext cx="9509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· 축제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43400" y="3803904"/>
            <a:ext cx="1682496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8890">
            <a:solidFill>
              <a:srgbClr val="DCE3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89704" y="3968496"/>
            <a:ext cx="310896" cy="310896"/>
          </a:xfrm>
          <a:prstGeom prst="ellipse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3922776"/>
            <a:ext cx="84124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28616" y="4178808"/>
            <a:ext cx="9509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휴식 · 힐링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656832" y="3154680"/>
            <a:ext cx="713232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6510528" y="3008376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319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embed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7452360" y="2011680"/>
            <a:ext cx="3886200" cy="2450592"/>
          </a:xfrm>
          <a:prstGeom prst="roundRect">
            <a:avLst>
              <a:gd name="adj" fmla="val 6716"/>
            </a:avLst>
          </a:prstGeom>
          <a:solidFill>
            <a:srgbClr val="13191D"/>
          </a:solidFill>
          <a:ln w="8890">
            <a:solidFill>
              <a:srgbClr val="13191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54112" y="2340864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PROFILE VECTOR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754112" y="2816352"/>
            <a:ext cx="28346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성향을 의미의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방향으로 표현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7754112" y="3913632"/>
            <a:ext cx="3063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CE3E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[자연 0.8 · 미식 0.7 · 휴식 0.4]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772400" y="5230368"/>
            <a:ext cx="3657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9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profile vector  &lt;-&gt;  place vector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0" y="5669280"/>
            <a:ext cx="3520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cosine similarity로 성향 적합도를 비교합니다.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7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14 / SOLUTION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추천에서 끝나지 않고, 다음 여행으로 이어집니다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성향·장소·이동·기록이 하나의 순환 구조를 만듭니다.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938528" cy="1536192"/>
          </a:xfrm>
          <a:prstGeom prst="roundRect">
            <a:avLst>
              <a:gd name="adj" fmla="val 8333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36829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68096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 설문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317296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6축 점수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2596896" y="2852928"/>
            <a:ext cx="210312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103120"/>
            <a:ext cx="1938528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236829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39FB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81528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관광 데이터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81528" y="317296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 · category · 좌표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910328" y="2852928"/>
            <a:ext cx="210312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93792" y="2103120"/>
            <a:ext cx="1938528" cy="1536192"/>
          </a:xfrm>
          <a:prstGeom prst="roundRect">
            <a:avLst>
              <a:gd name="adj" fmla="val 8333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36829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94960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추천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317296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30개 → 10개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7223760" y="2852928"/>
            <a:ext cx="210312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07224" y="2103120"/>
            <a:ext cx="1938528" cy="1536192"/>
          </a:xfrm>
          <a:prstGeom prst="roundRect">
            <a:avLst>
              <a:gd name="adj" fmla="val 8333"/>
            </a:avLst>
          </a:prstGeom>
          <a:solidFill>
            <a:srgbClr val="EDF2E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36829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7B7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08392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여행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08392" y="317296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일정 · 변경 · 이동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537192" y="2852928"/>
            <a:ext cx="210312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20656" y="2103120"/>
            <a:ext cx="1938528" cy="1536192"/>
          </a:xfrm>
          <a:prstGeom prst="roundRect">
            <a:avLst>
              <a:gd name="adj" fmla="val 8333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21824" y="2368296"/>
            <a:ext cx="3840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8816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21824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 기록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21824" y="3172968"/>
            <a:ext cx="14996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위치 · 사진 · 맥락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960120" y="4709160"/>
            <a:ext cx="10287000" cy="777240"/>
          </a:xfrm>
          <a:prstGeom prst="roundRect">
            <a:avLst>
              <a:gd name="adj" fmla="val 15294"/>
            </a:avLst>
          </a:prstGeom>
          <a:solidFill>
            <a:srgbClr val="13191D"/>
          </a:solidFill>
          <a:ln w="8890">
            <a:solidFill>
              <a:srgbClr val="1319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4956048"/>
            <a:ext cx="9601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쌓일수록  →  다음 여행의 추천이 가까워집니다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15 / TECHNICAL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앱에서 Cloud까지, 하나의 여행 데이터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0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발견·추천·일정·기록을 각각의 책임으로 나누고 하나의 시스템으로 연결합니다.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865376"/>
            <a:ext cx="1938528" cy="2487168"/>
          </a:xfrm>
          <a:prstGeom prst="roundRect">
            <a:avLst>
              <a:gd name="adj" fmla="val 6604"/>
            </a:avLst>
          </a:prstGeom>
          <a:solidFill>
            <a:srgbClr val="1B252D"/>
          </a:solidFill>
          <a:ln w="8890">
            <a:solidFill>
              <a:srgbClr val="3D4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139696"/>
            <a:ext cx="1188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86384" y="2596896"/>
            <a:ext cx="1417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2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· Kotlin · Compose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3310128"/>
            <a:ext cx="1325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 · Search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 · Photo · H3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3419856"/>
            <a:ext cx="438912" cy="0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40280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4572000"/>
            <a:ext cx="1938528" cy="1408176"/>
          </a:xfrm>
          <a:prstGeom prst="roundRect">
            <a:avLst>
              <a:gd name="adj" fmla="val 9091"/>
            </a:avLst>
          </a:prstGeom>
          <a:solidFill>
            <a:srgbClr val="1B252D"/>
          </a:solidFill>
          <a:ln w="8890">
            <a:solidFill>
              <a:srgbClr val="3D4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791456"/>
            <a:ext cx="1371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EXTERNAL IDP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" y="5212080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2DB400"/>
          </a:solidFill>
          <a:ln w="12700">
            <a:solidFill>
              <a:srgbClr val="2D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5221224"/>
            <a:ext cx="512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61872" y="5212080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F5D533"/>
          </a:solidFill>
          <a:ln w="12700">
            <a:solidFill>
              <a:srgbClr val="F5D5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5221224"/>
            <a:ext cx="512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10512" y="5212080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6E9DBD"/>
          </a:solidFill>
          <a:ln w="12700">
            <a:solidFill>
              <a:srgbClr val="6E9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5221224"/>
            <a:ext cx="5303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5641848"/>
            <a:ext cx="1188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C2C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OAuth → 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90672" y="1819656"/>
            <a:ext cx="8549640" cy="4169664"/>
          </a:xfrm>
          <a:prstGeom prst="roundRect">
            <a:avLst>
              <a:gd name="adj" fmla="val 3070"/>
            </a:avLst>
          </a:prstGeom>
          <a:solidFill>
            <a:srgbClr val="0F1418"/>
          </a:solidFill>
          <a:ln w="8890">
            <a:solidFill>
              <a:srgbClr val="354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103120"/>
            <a:ext cx="29260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 CLOUD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429000" y="2523744"/>
            <a:ext cx="4846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7C1C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Cloud Run · Cloud SQL · Cloud Storage · AI services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62656" y="2779776"/>
            <a:ext cx="0" cy="640080"/>
          </a:xfrm>
          <a:prstGeom prst="line">
            <a:avLst/>
          </a:prstGeom>
          <a:noFill/>
          <a:ln w="19050">
            <a:solidFill>
              <a:srgbClr val="F5B8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62656" y="2779776"/>
            <a:ext cx="3118104" cy="0"/>
          </a:xfrm>
          <a:prstGeom prst="line">
            <a:avLst/>
          </a:prstGeom>
          <a:noFill/>
          <a:ln w="19050">
            <a:solidFill>
              <a:srgbClr val="F5B8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779776"/>
            <a:ext cx="0" cy="192024"/>
          </a:xfrm>
          <a:prstGeom prst="line">
            <a:avLst/>
          </a:prstGeom>
          <a:noFill/>
          <a:ln w="1905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416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REST /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297180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1B252D"/>
          </a:solidFill>
          <a:ln w="8890">
            <a:solidFill>
              <a:srgbClr val="3743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47872" y="3127248"/>
            <a:ext cx="347472" cy="347472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200400"/>
            <a:ext cx="347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95928" y="3081528"/>
            <a:ext cx="17099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SQL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95928" y="3337560"/>
            <a:ext cx="170992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places · trips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297180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1B252D"/>
          </a:solidFill>
          <a:ln w="8890">
            <a:solidFill>
              <a:srgbClr val="3743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27064" y="3127248"/>
            <a:ext cx="347472" cy="347472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3200400"/>
            <a:ext cx="347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API</a:t>
            </a:r>
            <a:endParaRPr lang="en-US" sz="520" dirty="0"/>
          </a:p>
        </p:txBody>
      </p:sp>
      <p:sp>
        <p:nvSpPr>
          <p:cNvPr id="35" name="Text 33"/>
          <p:cNvSpPr/>
          <p:nvPr/>
        </p:nvSpPr>
        <p:spPr>
          <a:xfrm>
            <a:off x="6675120" y="3081528"/>
            <a:ext cx="17099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Backend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3337560"/>
            <a:ext cx="170992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· API · policy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59952" y="297180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1B252D"/>
          </a:solidFill>
          <a:ln w="8890">
            <a:solidFill>
              <a:srgbClr val="3743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06256" y="3127248"/>
            <a:ext cx="347472" cy="347472"/>
          </a:xfrm>
          <a:prstGeom prst="ellipse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06256" y="3200400"/>
            <a:ext cx="347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GCS</a:t>
            </a:r>
            <a:endParaRPr lang="en-US" sz="520" dirty="0"/>
          </a:p>
        </p:txBody>
      </p:sp>
      <p:sp>
        <p:nvSpPr>
          <p:cNvPr id="40" name="Text 38"/>
          <p:cNvSpPr/>
          <p:nvPr/>
        </p:nvSpPr>
        <p:spPr>
          <a:xfrm>
            <a:off x="9354312" y="3081528"/>
            <a:ext cx="170992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54312" y="3337560"/>
            <a:ext cx="170992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original · thumbnail · signed URL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70448" y="3310128"/>
            <a:ext cx="146304" cy="0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headEnd type="triangle"/>
          </a:ln>
        </p:spPr>
      </p:sp>
      <p:sp>
        <p:nvSpPr>
          <p:cNvPr id="43" name="Text 41"/>
          <p:cNvSpPr/>
          <p:nvPr/>
        </p:nvSpPr>
        <p:spPr>
          <a:xfrm>
            <a:off x="5468112" y="2889504"/>
            <a:ext cx="594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data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3310128"/>
            <a:ext cx="137160" cy="0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339328" y="2889504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96912" y="3657600"/>
            <a:ext cx="0" cy="201168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793992" y="361188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01568" y="3913632"/>
            <a:ext cx="7781544" cy="219456"/>
          </a:xfrm>
          <a:prstGeom prst="roundRect">
            <a:avLst>
              <a:gd name="adj" fmla="val 16667"/>
            </a:avLst>
          </a:prstGeom>
          <a:solidFill>
            <a:srgbClr val="1B252D"/>
          </a:solidFill>
          <a:ln w="8890">
            <a:solidFill>
              <a:srgbClr val="1B25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941064"/>
            <a:ext cx="1783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7C1C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BACKEND MODULE CALLS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01568" y="4270248"/>
            <a:ext cx="1783080" cy="786384"/>
          </a:xfrm>
          <a:prstGeom prst="roundRect">
            <a:avLst>
              <a:gd name="adj" fmla="val 13953"/>
            </a:avLst>
          </a:prstGeom>
          <a:solidFill>
            <a:srgbClr val="1B252D"/>
          </a:solidFill>
          <a:ln w="8890">
            <a:solidFill>
              <a:srgbClr val="3743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47872" y="4425696"/>
            <a:ext cx="347472" cy="34747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4787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319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995928" y="4379976"/>
            <a:ext cx="106984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3995928" y="4636008"/>
            <a:ext cx="106984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· route · constraints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13248" y="4270248"/>
            <a:ext cx="1783080" cy="786384"/>
          </a:xfrm>
          <a:prstGeom prst="roundRect">
            <a:avLst>
              <a:gd name="adj" fmla="val 13953"/>
            </a:avLst>
          </a:prstGeom>
          <a:solidFill>
            <a:srgbClr val="1B252D"/>
          </a:solidFill>
          <a:ln w="8890">
            <a:solidFill>
              <a:srgbClr val="37434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59552" y="4425696"/>
            <a:ext cx="347472" cy="347472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5955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AI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007608" y="4379976"/>
            <a:ext cx="106984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 AI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007608" y="4636008"/>
            <a:ext cx="106984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Vertex AI · embedding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24928" y="4270248"/>
            <a:ext cx="1783080" cy="786384"/>
          </a:xfrm>
          <a:prstGeom prst="roundRect">
            <a:avLst>
              <a:gd name="adj" fmla="val 13953"/>
            </a:avLst>
          </a:prstGeom>
          <a:solidFill>
            <a:srgbClr val="1B252D"/>
          </a:solidFill>
          <a:ln w="8890">
            <a:solidFill>
              <a:srgbClr val="37434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71232" y="4425696"/>
            <a:ext cx="347472" cy="34747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7123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319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019288" y="4379976"/>
            <a:ext cx="106984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019288" y="4636008"/>
            <a:ext cx="106984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→ 10 reranking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436608" y="4270248"/>
            <a:ext cx="1746504" cy="786384"/>
          </a:xfrm>
          <a:prstGeom prst="roundRect">
            <a:avLst>
              <a:gd name="adj" fmla="val 13953"/>
            </a:avLst>
          </a:prstGeom>
          <a:solidFill>
            <a:srgbClr val="1B252D"/>
          </a:solidFill>
          <a:ln w="8890">
            <a:solidFill>
              <a:srgbClr val="37434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82912" y="4425696"/>
            <a:ext cx="347472" cy="347472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82912" y="4498848"/>
            <a:ext cx="34747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030968" y="4379976"/>
            <a:ext cx="10332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 LOG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0030968" y="4636008"/>
            <a:ext cx="103327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· photo · visit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297680" y="4133088"/>
            <a:ext cx="0" cy="118872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3794760" y="404622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route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309360" y="4133088"/>
            <a:ext cx="0" cy="118872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5806440" y="404622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embed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321040" y="4133088"/>
            <a:ext cx="0" cy="118872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7818120" y="404622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rank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314432" y="4133088"/>
            <a:ext cx="0" cy="118872"/>
          </a:xfrm>
          <a:prstGeom prst="line">
            <a:avLst/>
          </a:prstGeom>
          <a:noFill/>
          <a:ln w="2032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9811512" y="4046220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record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429000" y="5605272"/>
            <a:ext cx="7498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7C1C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provider keys backend-only  /  place_id · provenance · cell_id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5B82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16 /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시연은 한 번의 여행을 따라갑니다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후편집으로 삽입하고, 발표에서는 흐름의 의미를 끊김 없이 보여줍니다.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755648" cy="2011680"/>
          </a:xfrm>
          <a:prstGeom prst="roundRect">
            <a:avLst>
              <a:gd name="adj" fmla="val 7813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304288"/>
            <a:ext cx="512064" cy="512064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450592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3154680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6축 점수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68880" y="2761488"/>
            <a:ext cx="338328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1993392"/>
            <a:ext cx="1755648" cy="2011680"/>
          </a:xfrm>
          <a:prstGeom prst="roundRect">
            <a:avLst>
              <a:gd name="adj" fmla="val 7813"/>
            </a:avLst>
          </a:prstGeom>
          <a:solidFill>
            <a:srgbClr val="FFF1C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304288"/>
            <a:ext cx="512064" cy="512064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450592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18104" y="3154680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3566160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30 → 10 추천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709160" y="2761488"/>
            <a:ext cx="338328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38928" y="1993392"/>
            <a:ext cx="1755648" cy="2011680"/>
          </a:xfrm>
          <a:prstGeom prst="roundRect">
            <a:avLst>
              <a:gd name="adj" fmla="val 7813"/>
            </a:avLst>
          </a:prstGeom>
          <a:solidFill>
            <a:srgbClr val="E7F0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304288"/>
            <a:ext cx="512064" cy="512064"/>
          </a:xfrm>
          <a:prstGeom prst="ellipse">
            <a:avLst/>
          </a:prstGeom>
          <a:solidFill>
            <a:srgbClr val="739FBB"/>
          </a:solidFill>
          <a:ln w="12700">
            <a:solidFill>
              <a:srgbClr val="739F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450592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58384" y="3154680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3566160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일정 · 동선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949440" y="2761488"/>
            <a:ext cx="338328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79208" y="1993392"/>
            <a:ext cx="1755648" cy="2011680"/>
          </a:xfrm>
          <a:prstGeom prst="roundRect">
            <a:avLst>
              <a:gd name="adj" fmla="val 7813"/>
            </a:avLst>
          </a:prstGeom>
          <a:solidFill>
            <a:srgbClr val="EDF2E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2304288"/>
            <a:ext cx="512064" cy="512064"/>
          </a:xfrm>
          <a:prstGeom prst="ellipse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2450592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98664" y="3154680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43800" y="3566160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자연어 요청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189720" y="2761488"/>
            <a:ext cx="338328" cy="0"/>
          </a:xfrm>
          <a:prstGeom prst="line">
            <a:avLst/>
          </a:prstGeom>
          <a:noFill/>
          <a:ln w="20320">
            <a:solidFill>
              <a:srgbClr val="13191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19488" y="1993392"/>
            <a:ext cx="1755648" cy="2011680"/>
          </a:xfrm>
          <a:prstGeom prst="roundRect">
            <a:avLst>
              <a:gd name="adj" fmla="val 7813"/>
            </a:avLst>
          </a:prstGeom>
          <a:solidFill>
            <a:srgbClr val="FBE7D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0" y="2304288"/>
            <a:ext cx="512064" cy="512064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0" y="2450592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38944" y="3154680"/>
            <a:ext cx="1325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3566160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사진 · H3 cell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914400" y="4773168"/>
            <a:ext cx="10241280" cy="749808"/>
          </a:xfrm>
          <a:prstGeom prst="roundRect">
            <a:avLst>
              <a:gd name="adj" fmla="val 15854"/>
            </a:avLst>
          </a:prstGeom>
          <a:solidFill>
            <a:srgbClr val="E7F0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020056"/>
            <a:ext cx="97840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“비가 오니까 다음 장소를 실내로 바꿔줘”  →  일정 재구성  →  LOG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987552"/>
            <a:ext cx="50292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319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984248"/>
            <a:ext cx="548640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나를 따라 그려지는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여행 지도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3877056"/>
            <a:ext cx="6766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1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쌓일수록, 다음 여행은 조금 더 나에게 가까워집니다.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636008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FFF1C7"/>
          </a:solidFill>
          <a:ln w="12700">
            <a:solidFill>
              <a:srgbClr val="FFF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645152"/>
            <a:ext cx="33101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9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관광자원  ×  나의 취향  ×  실제 기록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5733288"/>
            <a:ext cx="10680192" cy="0"/>
          </a:xfrm>
          <a:prstGeom prst="line">
            <a:avLst/>
          </a:prstGeom>
          <a:noFill/>
          <a:ln w="30480">
            <a:solidFill>
              <a:srgbClr val="F5B82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6656" y="5650992"/>
            <a:ext cx="164592" cy="16459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7208" y="5650992"/>
            <a:ext cx="164592" cy="16459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5650992"/>
            <a:ext cx="164592" cy="16459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68312" y="5650992"/>
            <a:ext cx="164592" cy="16459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98864" y="5650992"/>
            <a:ext cx="164592" cy="16459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83696" y="5650992"/>
            <a:ext cx="164592" cy="164592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33872"/>
            <a:ext cx="7772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D881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여행은 끝나도, 추억까지 끝나는 건 아니니까요.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0" y="6126480"/>
            <a:ext cx="2286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STOBEE  /  THANK YOU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17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STOG  /  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STOBEE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STOG — 나를 따라 그려지는 맞춤형 여행 지도</dc:title>
  <dc:subject>STOG 최종 발표</dc:subject>
  <dc:creator>STOBEE</dc:creator>
  <cp:lastModifiedBy>STOBEE</cp:lastModifiedBy>
  <cp:revision>1</cp:revision>
  <dcterms:created xsi:type="dcterms:W3CDTF">2026-08-28T18:14:41Z</dcterms:created>
  <dcterms:modified xsi:type="dcterms:W3CDTF">2026-08-28T18:14:41Z</dcterms:modified>
</cp:coreProperties>
</file>